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mo" panose="020B0604020202020204" charset="0"/>
      <p:regular r:id="rId17"/>
    </p:embeddedFont>
    <p:embeddedFont>
      <p:font typeface="Gilda Display" panose="020B0604020202020204" charset="0"/>
      <p:regular r:id="rId18"/>
    </p:embeddedFont>
    <p:embeddedFont>
      <p:font typeface="HK Grotesk" panose="020B0604020202020204" charset="0"/>
      <p:regular r:id="rId19"/>
    </p:embeddedFont>
    <p:embeddedFont>
      <p:font typeface="HK Grotesk Bold" panose="020B0604020202020204" charset="0"/>
      <p:regular r:id="rId20"/>
    </p:embeddedFont>
    <p:embeddedFont>
      <p:font typeface="HK Grotesk Light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29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13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11225" y="6787402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" name="Group 3"/>
          <p:cNvGrpSpPr/>
          <p:nvPr/>
        </p:nvGrpSpPr>
        <p:grpSpPr>
          <a:xfrm>
            <a:off x="666750" y="666750"/>
            <a:ext cx="8629650" cy="8953500"/>
            <a:chOff x="0" y="0"/>
            <a:chExt cx="1336959" cy="138713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36959" cy="1387131"/>
            </a:xfrm>
            <a:custGeom>
              <a:avLst/>
              <a:gdLst/>
              <a:ahLst/>
              <a:cxnLst/>
              <a:rect l="l" t="t" r="r" b="b"/>
              <a:pathLst>
                <a:path w="1336959" h="1387131">
                  <a:moveTo>
                    <a:pt x="35885" y="0"/>
                  </a:moveTo>
                  <a:lnTo>
                    <a:pt x="1301073" y="0"/>
                  </a:lnTo>
                  <a:cubicBezTo>
                    <a:pt x="1310591" y="0"/>
                    <a:pt x="1319718" y="3781"/>
                    <a:pt x="1326448" y="10511"/>
                  </a:cubicBezTo>
                  <a:cubicBezTo>
                    <a:pt x="1333178" y="17240"/>
                    <a:pt x="1336959" y="26368"/>
                    <a:pt x="1336959" y="35885"/>
                  </a:cubicBezTo>
                  <a:lnTo>
                    <a:pt x="1336959" y="1351246"/>
                  </a:lnTo>
                  <a:cubicBezTo>
                    <a:pt x="1336959" y="1360764"/>
                    <a:pt x="1333178" y="1369891"/>
                    <a:pt x="1326448" y="1376621"/>
                  </a:cubicBezTo>
                  <a:cubicBezTo>
                    <a:pt x="1319718" y="1383351"/>
                    <a:pt x="1310591" y="1387131"/>
                    <a:pt x="1301073" y="1387131"/>
                  </a:cubicBezTo>
                  <a:lnTo>
                    <a:pt x="35885" y="1387131"/>
                  </a:lnTo>
                  <a:cubicBezTo>
                    <a:pt x="26368" y="1387131"/>
                    <a:pt x="17240" y="1383351"/>
                    <a:pt x="10511" y="1376621"/>
                  </a:cubicBezTo>
                  <a:cubicBezTo>
                    <a:pt x="3781" y="1369891"/>
                    <a:pt x="0" y="1360764"/>
                    <a:pt x="0" y="1351246"/>
                  </a:cubicBezTo>
                  <a:lnTo>
                    <a:pt x="0" y="35885"/>
                  </a:lnTo>
                  <a:cubicBezTo>
                    <a:pt x="0" y="26368"/>
                    <a:pt x="3781" y="17240"/>
                    <a:pt x="10511" y="10511"/>
                  </a:cubicBezTo>
                  <a:cubicBezTo>
                    <a:pt x="17240" y="3781"/>
                    <a:pt x="26368" y="0"/>
                    <a:pt x="35885" y="0"/>
                  </a:cubicBezTo>
                  <a:close/>
                </a:path>
              </a:pathLst>
            </a:custGeom>
            <a:blipFill>
              <a:blip r:embed="rId4"/>
              <a:stretch>
                <a:fillRect t="-199" b="-199"/>
              </a:stretch>
            </a:blipFill>
            <a:ln w="28575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734675" y="666804"/>
            <a:ext cx="6886575" cy="4243083"/>
            <a:chOff x="0" y="0"/>
            <a:chExt cx="9182100" cy="5657444"/>
          </a:xfrm>
        </p:grpSpPr>
        <p:sp>
          <p:nvSpPr>
            <p:cNvPr id="6" name="TextBox 6"/>
            <p:cNvSpPr txBox="1"/>
            <p:nvPr/>
          </p:nvSpPr>
          <p:spPr>
            <a:xfrm>
              <a:off x="0" y="2559068"/>
              <a:ext cx="9182100" cy="3098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Soccer Events (ELEC5305)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1071668"/>
              <a:ext cx="9182100" cy="9340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5880"/>
                </a:lnSpc>
              </a:pPr>
              <a:r>
                <a:rPr lang="en-US" sz="4200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Audio-Only Detection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9182100" cy="4938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7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734675" y="5911920"/>
            <a:ext cx="6886575" cy="28022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00"/>
              </a:lnSpc>
            </a:pPr>
            <a:r>
              <a:rPr lang="en-US" sz="7200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Marcellus Ray Gunawan - 520038655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734675" y="666750"/>
            <a:ext cx="6886575" cy="8953500"/>
            <a:chOff x="0" y="0"/>
            <a:chExt cx="1200275" cy="1560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00275" cy="1560523"/>
            </a:xfrm>
            <a:custGeom>
              <a:avLst/>
              <a:gdLst/>
              <a:ahLst/>
              <a:cxnLst/>
              <a:rect l="l" t="t" r="r" b="b"/>
              <a:pathLst>
                <a:path w="1200275" h="1560523">
                  <a:moveTo>
                    <a:pt x="44968" y="0"/>
                  </a:moveTo>
                  <a:lnTo>
                    <a:pt x="1155306" y="0"/>
                  </a:lnTo>
                  <a:cubicBezTo>
                    <a:pt x="1167233" y="0"/>
                    <a:pt x="1178670" y="4738"/>
                    <a:pt x="1187104" y="13171"/>
                  </a:cubicBezTo>
                  <a:cubicBezTo>
                    <a:pt x="1195537" y="21604"/>
                    <a:pt x="1200275" y="33042"/>
                    <a:pt x="1200275" y="44968"/>
                  </a:cubicBezTo>
                  <a:lnTo>
                    <a:pt x="1200275" y="1515555"/>
                  </a:lnTo>
                  <a:cubicBezTo>
                    <a:pt x="1200275" y="1527481"/>
                    <a:pt x="1195537" y="1538919"/>
                    <a:pt x="1187104" y="1547352"/>
                  </a:cubicBezTo>
                  <a:cubicBezTo>
                    <a:pt x="1178670" y="1555785"/>
                    <a:pt x="1167233" y="1560523"/>
                    <a:pt x="1155306" y="1560523"/>
                  </a:cubicBezTo>
                  <a:lnTo>
                    <a:pt x="44968" y="1560523"/>
                  </a:lnTo>
                  <a:cubicBezTo>
                    <a:pt x="33042" y="1560523"/>
                    <a:pt x="21604" y="1555785"/>
                    <a:pt x="13171" y="1547352"/>
                  </a:cubicBezTo>
                  <a:cubicBezTo>
                    <a:pt x="4738" y="1538919"/>
                    <a:pt x="0" y="1527481"/>
                    <a:pt x="0" y="1515555"/>
                  </a:cubicBezTo>
                  <a:lnTo>
                    <a:pt x="0" y="44968"/>
                  </a:lnTo>
                  <a:cubicBezTo>
                    <a:pt x="0" y="33042"/>
                    <a:pt x="4738" y="21604"/>
                    <a:pt x="13171" y="13171"/>
                  </a:cubicBezTo>
                  <a:cubicBezTo>
                    <a:pt x="21604" y="4738"/>
                    <a:pt x="33042" y="0"/>
                    <a:pt x="44968" y="0"/>
                  </a:cubicBezTo>
                  <a:close/>
                </a:path>
              </a:pathLst>
            </a:custGeom>
            <a:blipFill>
              <a:blip r:embed="rId2"/>
              <a:stretch>
                <a:fillRect t="-271" b="-271"/>
              </a:stretch>
            </a:blipFill>
            <a:ln w="19050" cap="rnd">
              <a:solidFill>
                <a:srgbClr val="432766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19150" y="3633788"/>
            <a:ext cx="8324850" cy="3019424"/>
            <a:chOff x="0" y="0"/>
            <a:chExt cx="11099800" cy="4025899"/>
          </a:xfrm>
        </p:grpSpPr>
        <p:sp>
          <p:nvSpPr>
            <p:cNvPr id="5" name="TextBox 5"/>
            <p:cNvSpPr txBox="1"/>
            <p:nvPr/>
          </p:nvSpPr>
          <p:spPr>
            <a:xfrm>
              <a:off x="0" y="2057399"/>
              <a:ext cx="110998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Audio offers </a:t>
              </a:r>
              <a:r>
                <a:rPr lang="en-US" sz="3000" b="1">
                  <a:solidFill>
                    <a:srgbClr val="20304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low-latency detection</a:t>
              </a: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and captures essential information, complementary video technologies to enhance event understanding.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71450"/>
              <a:ext cx="110998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Why Audio?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05025" y="3002297"/>
            <a:ext cx="12639675" cy="3914808"/>
            <a:chOff x="0" y="0"/>
            <a:chExt cx="16852900" cy="5219744"/>
          </a:xfrm>
        </p:grpSpPr>
        <p:sp>
          <p:nvSpPr>
            <p:cNvPr id="3" name="TextBox 3"/>
            <p:cNvSpPr txBox="1"/>
            <p:nvPr/>
          </p:nvSpPr>
          <p:spPr>
            <a:xfrm>
              <a:off x="0" y="171450"/>
              <a:ext cx="168529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Research Question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51244"/>
              <a:ext cx="168529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This study investigates whether </a:t>
              </a:r>
              <a:r>
                <a:rPr lang="en-US" sz="3000" b="1">
                  <a:solidFill>
                    <a:srgbClr val="20304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audio alone can effectively</a:t>
              </a: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detect soccer events, comparing the performance of RNN, Wav2Vec2, and AST models in achieving accurate predictions.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086063"/>
              <a:ext cx="168529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Exploring audio-only event detection capabilities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1268288">
            <a:off x="14795639" y="587349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838200"/>
            <a:ext cx="14077950" cy="1166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799"/>
              </a:lnSpc>
            </a:pPr>
            <a:r>
              <a:rPr lang="en-US" sz="8799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Dataset &amp; Labels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750" y="4391025"/>
            <a:ext cx="2856970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EPL Subset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437076" y="4391025"/>
            <a:ext cx="285932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Six Classes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5457825"/>
            <a:ext cx="17607376" cy="0"/>
          </a:xfrm>
          <a:prstGeom prst="line">
            <a:avLst/>
          </a:prstGeom>
          <a:ln w="19050" cap="flat">
            <a:solidFill>
              <a:srgbClr val="20304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D"/>
          </a:p>
        </p:txBody>
      </p:sp>
      <p:grpSp>
        <p:nvGrpSpPr>
          <p:cNvPr id="6" name="Group 6"/>
          <p:cNvGrpSpPr/>
          <p:nvPr/>
        </p:nvGrpSpPr>
        <p:grpSpPr>
          <a:xfrm>
            <a:off x="666750" y="5295900"/>
            <a:ext cx="323850" cy="323850"/>
            <a:chOff x="0" y="0"/>
            <a:chExt cx="6350000" cy="6350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203040"/>
            </a:solidFill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443576" y="5295900"/>
            <a:ext cx="323850" cy="323850"/>
            <a:chOff x="0" y="0"/>
            <a:chExt cx="6350000" cy="635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203040"/>
            </a:solidFill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202645" y="5295900"/>
            <a:ext cx="323850" cy="323850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203040"/>
            </a:solidFill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192000" y="4391025"/>
            <a:ext cx="285932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Half-Level Splits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6750" y="5991225"/>
            <a:ext cx="4010025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203040"/>
                </a:solidFill>
                <a:latin typeface="HK Grotesk"/>
                <a:ea typeface="HK Grotesk"/>
                <a:cs typeface="HK Grotesk"/>
                <a:sym typeface="HK Grotesk"/>
              </a:rPr>
              <a:t>Focused on popular English Premier League matches.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43576" y="5991225"/>
            <a:ext cx="3986299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u="none" strike="noStrike">
                <a:solidFill>
                  <a:srgbClr val="203040"/>
                </a:solidFill>
                <a:latin typeface="HK Grotesk"/>
                <a:ea typeface="HK Grotesk"/>
                <a:cs typeface="HK Grotesk"/>
                <a:sym typeface="HK Grotesk"/>
              </a:rPr>
              <a:t>Includes events like fouls and throw-ins.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172950" y="5991225"/>
            <a:ext cx="4010025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r>
              <a:rPr lang="en-US" sz="3000" u="none" strike="noStrike">
                <a:solidFill>
                  <a:srgbClr val="203040"/>
                </a:solidFill>
                <a:latin typeface="HK Grotesk"/>
                <a:ea typeface="HK Grotesk"/>
                <a:cs typeface="HK Grotesk"/>
                <a:sym typeface="HK Grotesk"/>
              </a:rPr>
              <a:t>Data is split for fair evaluation and training.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734675" y="666750"/>
            <a:ext cx="6886575" cy="8953500"/>
            <a:chOff x="0" y="0"/>
            <a:chExt cx="1200275" cy="1560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00275" cy="1560523"/>
            </a:xfrm>
            <a:custGeom>
              <a:avLst/>
              <a:gdLst/>
              <a:ahLst/>
              <a:cxnLst/>
              <a:rect l="l" t="t" r="r" b="b"/>
              <a:pathLst>
                <a:path w="1200275" h="1560523">
                  <a:moveTo>
                    <a:pt x="44968" y="0"/>
                  </a:moveTo>
                  <a:lnTo>
                    <a:pt x="1155306" y="0"/>
                  </a:lnTo>
                  <a:cubicBezTo>
                    <a:pt x="1167233" y="0"/>
                    <a:pt x="1178670" y="4738"/>
                    <a:pt x="1187104" y="13171"/>
                  </a:cubicBezTo>
                  <a:cubicBezTo>
                    <a:pt x="1195537" y="21604"/>
                    <a:pt x="1200275" y="33042"/>
                    <a:pt x="1200275" y="44968"/>
                  </a:cubicBezTo>
                  <a:lnTo>
                    <a:pt x="1200275" y="1515555"/>
                  </a:lnTo>
                  <a:cubicBezTo>
                    <a:pt x="1200275" y="1527481"/>
                    <a:pt x="1195537" y="1538919"/>
                    <a:pt x="1187104" y="1547352"/>
                  </a:cubicBezTo>
                  <a:cubicBezTo>
                    <a:pt x="1178670" y="1555785"/>
                    <a:pt x="1167233" y="1560523"/>
                    <a:pt x="1155306" y="1560523"/>
                  </a:cubicBezTo>
                  <a:lnTo>
                    <a:pt x="44968" y="1560523"/>
                  </a:lnTo>
                  <a:cubicBezTo>
                    <a:pt x="33042" y="1560523"/>
                    <a:pt x="21604" y="1555785"/>
                    <a:pt x="13171" y="1547352"/>
                  </a:cubicBezTo>
                  <a:cubicBezTo>
                    <a:pt x="4738" y="1538919"/>
                    <a:pt x="0" y="1527481"/>
                    <a:pt x="0" y="1515555"/>
                  </a:cubicBezTo>
                  <a:lnTo>
                    <a:pt x="0" y="44968"/>
                  </a:lnTo>
                  <a:cubicBezTo>
                    <a:pt x="0" y="33042"/>
                    <a:pt x="4738" y="21604"/>
                    <a:pt x="13171" y="13171"/>
                  </a:cubicBezTo>
                  <a:cubicBezTo>
                    <a:pt x="21604" y="4738"/>
                    <a:pt x="33042" y="0"/>
                    <a:pt x="44968" y="0"/>
                  </a:cubicBezTo>
                  <a:close/>
                </a:path>
              </a:pathLst>
            </a:custGeom>
            <a:blipFill>
              <a:blip r:embed="rId2"/>
              <a:stretch>
                <a:fillRect t="-271" b="-271"/>
              </a:stretch>
            </a:blipFill>
            <a:ln w="19050" cap="rnd">
              <a:solidFill>
                <a:srgbClr val="432766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666750" y="666750"/>
            <a:ext cx="8324850" cy="4133849"/>
            <a:chOff x="0" y="0"/>
            <a:chExt cx="11099800" cy="5511799"/>
          </a:xfrm>
        </p:grpSpPr>
        <p:sp>
          <p:nvSpPr>
            <p:cNvPr id="5" name="TextBox 5"/>
            <p:cNvSpPr txBox="1"/>
            <p:nvPr/>
          </p:nvSpPr>
          <p:spPr>
            <a:xfrm>
              <a:off x="0" y="3543299"/>
              <a:ext cx="110998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This pipeline outlines the process from window extraction to feature modeling and final inference, ensuring robust performance.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71450"/>
              <a:ext cx="11099800" cy="30983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Pipeline Overview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05025" y="3002297"/>
            <a:ext cx="12639675" cy="3914808"/>
            <a:chOff x="0" y="0"/>
            <a:chExt cx="16852900" cy="5219744"/>
          </a:xfrm>
        </p:grpSpPr>
        <p:sp>
          <p:nvSpPr>
            <p:cNvPr id="3" name="TextBox 3"/>
            <p:cNvSpPr txBox="1"/>
            <p:nvPr/>
          </p:nvSpPr>
          <p:spPr>
            <a:xfrm>
              <a:off x="0" y="171450"/>
              <a:ext cx="168529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Features &amp; Windows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51244"/>
              <a:ext cx="168529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This section discusses using log-mel spectrograms and W2V2 waveforms, examining trade-offs between 15s and 30s windows for improved event detection performance.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086063"/>
              <a:ext cx="168529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Exploring audio representation techniques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1268288">
            <a:off x="14795639" y="587349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4437773">
            <a:off x="13770320" y="-6241286"/>
            <a:ext cx="12640239" cy="11904807"/>
          </a:xfrm>
          <a:custGeom>
            <a:avLst/>
            <a:gdLst/>
            <a:ahLst/>
            <a:cxnLst/>
            <a:rect l="l" t="t" r="r" b="b"/>
            <a:pathLst>
              <a:path w="12640239" h="11904807">
                <a:moveTo>
                  <a:pt x="0" y="0"/>
                </a:moveTo>
                <a:lnTo>
                  <a:pt x="12640239" y="0"/>
                </a:lnTo>
                <a:lnTo>
                  <a:pt x="12640239" y="11904806"/>
                </a:lnTo>
                <a:lnTo>
                  <a:pt x="0" y="119048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" name="Group 3"/>
          <p:cNvGrpSpPr/>
          <p:nvPr/>
        </p:nvGrpSpPr>
        <p:grpSpPr>
          <a:xfrm>
            <a:off x="666750" y="666750"/>
            <a:ext cx="14077950" cy="2062247"/>
            <a:chOff x="0" y="0"/>
            <a:chExt cx="18770600" cy="2749662"/>
          </a:xfrm>
        </p:grpSpPr>
        <p:sp>
          <p:nvSpPr>
            <p:cNvPr id="4" name="TextBox 4"/>
            <p:cNvSpPr txBox="1"/>
            <p:nvPr/>
          </p:nvSpPr>
          <p:spPr>
            <a:xfrm>
              <a:off x="0" y="171450"/>
              <a:ext cx="187706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Model Comparison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130537"/>
              <a:ext cx="187706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Evaluating different audio models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66750" y="5143500"/>
            <a:ext cx="5448300" cy="3772376"/>
            <a:chOff x="0" y="0"/>
            <a:chExt cx="7264400" cy="5029835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RNN Architecture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1155700"/>
              <a:ext cx="7264400" cy="38741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51"/>
                </a:lnSpc>
              </a:pP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The RNN model utilizes </a:t>
              </a:r>
              <a:r>
                <a:rPr lang="en-US" sz="2962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2×BiGRU</a:t>
              </a: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layers, effectively capturing sequential patterns in audio data, crucial for recognizing soccer events amidst complex soundscapes.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419850" y="5143500"/>
            <a:ext cx="5448300" cy="3772376"/>
            <a:chOff x="0" y="0"/>
            <a:chExt cx="7264400" cy="5029835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Wav2Vec2 Model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1155700"/>
              <a:ext cx="7264400" cy="38741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51"/>
                </a:lnSpc>
              </a:pP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The Wav2Vec2 model is applied in a </a:t>
              </a:r>
              <a:r>
                <a:rPr lang="en-US" sz="2962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frozen + head</a:t>
              </a: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configuration, leveraging pretrained features to enhance event detection without extensive training time on the soccer dataset.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172950" y="5143500"/>
            <a:ext cx="5448300" cy="3772376"/>
            <a:chOff x="0" y="0"/>
            <a:chExt cx="7264400" cy="5029835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AST Approach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155700"/>
              <a:ext cx="7264400" cy="38741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51"/>
                </a:lnSpc>
              </a:pP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The AST model explores </a:t>
              </a:r>
              <a:r>
                <a:rPr lang="en-US" sz="2962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head-only vs partial fine-tuning</a:t>
              </a:r>
              <a:r>
                <a:rPr lang="en-US" sz="2962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, showcasing its ability to adapt to audio nuances, significantly improving detection performance in the context of soccer events.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05025" y="3002297"/>
            <a:ext cx="12639675" cy="3914808"/>
            <a:chOff x="0" y="0"/>
            <a:chExt cx="16852900" cy="5219744"/>
          </a:xfrm>
        </p:grpSpPr>
        <p:sp>
          <p:nvSpPr>
            <p:cNvPr id="3" name="TextBox 3"/>
            <p:cNvSpPr txBox="1"/>
            <p:nvPr/>
          </p:nvSpPr>
          <p:spPr>
            <a:xfrm>
              <a:off x="0" y="171450"/>
              <a:ext cx="168529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Training &amp; Evaluation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51244"/>
              <a:ext cx="168529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Our approach utilizes class-weighted cross-entropy loss, Adam/AdamW optimizers, and Macro-F1 metrics to guarantee fair evaluation across models, alongside confusion and precision-recall curves for deeper insights.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086063"/>
              <a:ext cx="168529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Ensuring Fairness in Model Assessment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1268288">
            <a:off x="14795639" y="587349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876342" y="3816002"/>
          <a:ext cx="14535316" cy="5612541"/>
        </p:xfrm>
        <a:graphic>
          <a:graphicData uri="http://schemas.openxmlformats.org/drawingml/2006/table">
            <a:tbl>
              <a:tblPr/>
              <a:tblGrid>
                <a:gridCol w="3633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3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3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79582">
                <a:tc>
                  <a:txBody>
                    <a:bodyPr/>
                    <a:lstStyle/>
                    <a:p>
                      <a:pPr algn="ctr">
                        <a:lnSpc>
                          <a:spcPts val="5217"/>
                        </a:lnSpc>
                        <a:defRPr/>
                      </a:pPr>
                      <a:r>
                        <a:rPr lang="en-US" sz="3726" b="1">
                          <a:solidFill>
                            <a:srgbClr val="CCCCCC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Model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217"/>
                        </a:lnSpc>
                        <a:defRPr/>
                      </a:pPr>
                      <a:r>
                        <a:rPr lang="en-US" sz="3726" b="1">
                          <a:solidFill>
                            <a:srgbClr val="CCCCCC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Accuracy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217"/>
                        </a:lnSpc>
                        <a:defRPr/>
                      </a:pPr>
                      <a:r>
                        <a:rPr lang="en-US" sz="3726" b="1">
                          <a:solidFill>
                            <a:srgbClr val="CCCCCC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F1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217"/>
                        </a:lnSpc>
                        <a:defRPr/>
                      </a:pPr>
                      <a:r>
                        <a:rPr lang="en-US" sz="3726" b="1">
                          <a:solidFill>
                            <a:srgbClr val="CCCCCC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Notes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336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RNN Baseline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2.3%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0.5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High class imbalance impact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4339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Wav2Vec2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23%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0.25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Pretrained, frozen layers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263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AST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42% 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0.45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Pretrained, frozen layers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263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AST (FT)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55%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0.53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 AudioSet weights, tuned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8934450" y="1328206"/>
            <a:ext cx="8324850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00"/>
              </a:lnSpc>
            </a:pPr>
            <a:r>
              <a:rPr lang="en-US" sz="3000">
                <a:solidFill>
                  <a:srgbClr val="203040"/>
                </a:solidFill>
                <a:latin typeface="HK Grotesk Light"/>
                <a:ea typeface="HK Grotesk Light"/>
                <a:cs typeface="HK Grotesk Light"/>
                <a:sym typeface="HK Grotesk Light"/>
              </a:rPr>
              <a:t>The results indicate </a:t>
            </a:r>
            <a:r>
              <a:rPr lang="en-US" sz="3000" b="1">
                <a:solidFill>
                  <a:srgbClr val="20304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significant disparities</a:t>
            </a:r>
            <a:r>
              <a:rPr lang="en-US" sz="3000">
                <a:solidFill>
                  <a:srgbClr val="203040"/>
                </a:solidFill>
                <a:latin typeface="HK Grotesk Light"/>
                <a:ea typeface="HK Grotesk Light"/>
                <a:cs typeface="HK Grotesk Light"/>
                <a:sym typeface="HK Grotesk Light"/>
              </a:rPr>
              <a:t> among models, with AST(FT) achieving the highest accuracy and Macro-F1 score.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1035471"/>
            <a:ext cx="8324850" cy="2280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799"/>
              </a:lnSpc>
            </a:pPr>
            <a:r>
              <a:rPr lang="en-US" sz="8799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Validation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4437773">
            <a:off x="13770320" y="-6241286"/>
            <a:ext cx="12640239" cy="11904807"/>
          </a:xfrm>
          <a:custGeom>
            <a:avLst/>
            <a:gdLst/>
            <a:ahLst/>
            <a:cxnLst/>
            <a:rect l="l" t="t" r="r" b="b"/>
            <a:pathLst>
              <a:path w="12640239" h="11904807">
                <a:moveTo>
                  <a:pt x="0" y="0"/>
                </a:moveTo>
                <a:lnTo>
                  <a:pt x="12640239" y="0"/>
                </a:lnTo>
                <a:lnTo>
                  <a:pt x="12640239" y="11904806"/>
                </a:lnTo>
                <a:lnTo>
                  <a:pt x="0" y="119048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grpSp>
        <p:nvGrpSpPr>
          <p:cNvPr id="3" name="Group 3"/>
          <p:cNvGrpSpPr/>
          <p:nvPr/>
        </p:nvGrpSpPr>
        <p:grpSpPr>
          <a:xfrm>
            <a:off x="666750" y="666750"/>
            <a:ext cx="14077950" cy="2062247"/>
            <a:chOff x="0" y="0"/>
            <a:chExt cx="18770600" cy="2749662"/>
          </a:xfrm>
        </p:grpSpPr>
        <p:sp>
          <p:nvSpPr>
            <p:cNvPr id="4" name="TextBox 4"/>
            <p:cNvSpPr txBox="1"/>
            <p:nvPr/>
          </p:nvSpPr>
          <p:spPr>
            <a:xfrm>
              <a:off x="0" y="171450"/>
              <a:ext cx="187706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Why AST(FT) Wins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130537"/>
              <a:ext cx="187706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Key advantages of AST(FT) model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66750" y="5143500"/>
            <a:ext cx="5448300" cy="3772614"/>
            <a:chOff x="0" y="0"/>
            <a:chExt cx="7264400" cy="5030153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Pretraining Benefits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1155700"/>
              <a:ext cx="7264400" cy="38744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26"/>
                </a:lnSpc>
              </a:pPr>
              <a:r>
                <a:rPr lang="en-US" sz="2943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AudioSet pretraining significantly enhances the model's ability to recognize non-speech audio signals, providing a robust foundation for detecting various soccer events.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419850" y="5143500"/>
            <a:ext cx="5448300" cy="3772614"/>
            <a:chOff x="0" y="0"/>
            <a:chExt cx="7264400" cy="5030153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Contextual Awareness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1155700"/>
              <a:ext cx="7264400" cy="38744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26"/>
                </a:lnSpc>
              </a:pPr>
              <a:r>
                <a:rPr lang="en-US" sz="2943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Patch attention mechanisms allow AST(FT) to capture important contextual information, improving its performance in distinguishing between similar audio events during a soccer match.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172950" y="5143500"/>
            <a:ext cx="5448300" cy="3286839"/>
            <a:chOff x="0" y="0"/>
            <a:chExt cx="7264400" cy="438245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9525"/>
              <a:ext cx="72644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 u="none" strike="noStrike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Domain Adaptation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155700"/>
              <a:ext cx="7264400" cy="32267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26"/>
                </a:lnSpc>
              </a:pPr>
              <a:r>
                <a:rPr lang="en-US" sz="2943" u="none" strike="noStrike">
                  <a:solidFill>
                    <a:srgbClr val="40608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The partial fine-tuning of AST(FT) effectively adapts the model to the specific characteristics of soccer audio, leading to improved accuracy in event detection.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05025" y="3002297"/>
            <a:ext cx="12639675" cy="3914808"/>
            <a:chOff x="0" y="0"/>
            <a:chExt cx="16852900" cy="5219744"/>
          </a:xfrm>
        </p:grpSpPr>
        <p:sp>
          <p:nvSpPr>
            <p:cNvPr id="3" name="TextBox 3"/>
            <p:cNvSpPr txBox="1"/>
            <p:nvPr/>
          </p:nvSpPr>
          <p:spPr>
            <a:xfrm>
              <a:off x="0" y="171450"/>
              <a:ext cx="168529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Error Patterns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51244"/>
              <a:ext cx="168529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Key challenges include </a:t>
              </a:r>
              <a:r>
                <a:rPr lang="en-US" sz="3000" b="1">
                  <a:solidFill>
                    <a:srgbClr val="20304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confusing throw-ins and ball-outs</a:t>
              </a: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, class imbalance, and </a:t>
              </a:r>
              <a:r>
                <a:rPr lang="en-US" sz="3000" b="1">
                  <a:solidFill>
                    <a:srgbClr val="20304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variability in loudness</a:t>
              </a: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 from commentary, all affecting accurate detection performance in audio analysis.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086063"/>
              <a:ext cx="168529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Understanding Detection Challenges in Soccer Events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1268288">
            <a:off x="14795639" y="587349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96400" y="65722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734675" y="666750"/>
            <a:ext cx="6886575" cy="1838325"/>
            <a:chOff x="0" y="0"/>
            <a:chExt cx="9182100" cy="2451100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Focal Loss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16840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Using focal loss can improve class imbalance handling.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296400" y="334327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734675" y="3352800"/>
            <a:ext cx="6886575" cy="1828800"/>
            <a:chOff x="0" y="0"/>
            <a:chExt cx="9182100" cy="2438400"/>
          </a:xfrm>
        </p:grpSpPr>
        <p:sp>
          <p:nvSpPr>
            <p:cNvPr id="8" name="TextBox 8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Multi-Scale Windows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15570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Implementing multi-scale windows enhances temporal feature extraction.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296400" y="602932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03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734675" y="6033135"/>
            <a:ext cx="6886575" cy="1834515"/>
            <a:chOff x="0" y="0"/>
            <a:chExt cx="9182100" cy="244602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Smoothing Techniques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16332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HMM/CRF smoothing will refine event detection accuracy.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66750" y="809625"/>
            <a:ext cx="7258050" cy="21729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325"/>
              </a:lnSpc>
            </a:pPr>
            <a:r>
              <a:rPr lang="en-US" sz="8325" dirty="0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Future Improvements</a:t>
            </a:r>
          </a:p>
        </p:txBody>
      </p:sp>
      <p:sp>
        <p:nvSpPr>
          <p:cNvPr id="15" name="Freeform 15"/>
          <p:cNvSpPr/>
          <p:nvPr/>
        </p:nvSpPr>
        <p:spPr>
          <a:xfrm rot="-2156052">
            <a:off x="-3053910" y="7516388"/>
            <a:ext cx="6407041" cy="7627430"/>
          </a:xfrm>
          <a:custGeom>
            <a:avLst/>
            <a:gdLst/>
            <a:ahLst/>
            <a:cxnLst/>
            <a:rect l="l" t="t" r="r" b="b"/>
            <a:pathLst>
              <a:path w="6407041" h="7627430">
                <a:moveTo>
                  <a:pt x="0" y="0"/>
                </a:moveTo>
                <a:lnTo>
                  <a:pt x="6407041" y="0"/>
                </a:lnTo>
                <a:lnTo>
                  <a:pt x="6407041" y="7627430"/>
                </a:lnTo>
                <a:lnTo>
                  <a:pt x="0" y="762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96400" y="65722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734675" y="666750"/>
            <a:ext cx="6886575" cy="1838325"/>
            <a:chOff x="0" y="0"/>
            <a:chExt cx="9182100" cy="2451100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Low-latency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116840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Enables near-instant highlight selections for broadcasted matches.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296400" y="334327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734675" y="3352800"/>
            <a:ext cx="6886575" cy="1828800"/>
            <a:chOff x="0" y="0"/>
            <a:chExt cx="9182100" cy="2438400"/>
          </a:xfrm>
        </p:grpSpPr>
        <p:sp>
          <p:nvSpPr>
            <p:cNvPr id="8" name="TextBox 8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Redundancy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15570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Complements video feeds, enhancing coverage of critical moments.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296400" y="6029325"/>
            <a:ext cx="113347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99"/>
              </a:lnSpc>
              <a:spcBef>
                <a:spcPct val="0"/>
              </a:spcBef>
            </a:pPr>
            <a:r>
              <a:rPr lang="en-US" sz="2999" b="1" u="none">
                <a:solidFill>
                  <a:srgbClr val="406080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03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734675" y="6033135"/>
            <a:ext cx="6886575" cy="1834515"/>
            <a:chOff x="0" y="0"/>
            <a:chExt cx="9182100" cy="2446020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9525"/>
              <a:ext cx="91821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Scalability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163320"/>
              <a:ext cx="9182100" cy="1282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99"/>
                </a:lnSpc>
              </a:pPr>
              <a:r>
                <a:rPr lang="en-US" sz="2999">
                  <a:solidFill>
                    <a:srgbClr val="20304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Designed to operate efficiently on limited computing resources.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8700" y="3212465"/>
            <a:ext cx="6886575" cy="2280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799"/>
              </a:lnSpc>
            </a:pPr>
            <a:r>
              <a:rPr lang="en-US" sz="8799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Impact and Use-Cases</a:t>
            </a:r>
          </a:p>
        </p:txBody>
      </p:sp>
      <p:sp>
        <p:nvSpPr>
          <p:cNvPr id="15" name="Freeform 15"/>
          <p:cNvSpPr/>
          <p:nvPr/>
        </p:nvSpPr>
        <p:spPr>
          <a:xfrm rot="-2156052">
            <a:off x="-3053910" y="7516388"/>
            <a:ext cx="6407041" cy="7627430"/>
          </a:xfrm>
          <a:custGeom>
            <a:avLst/>
            <a:gdLst/>
            <a:ahLst/>
            <a:cxnLst/>
            <a:rect l="l" t="t" r="r" b="b"/>
            <a:pathLst>
              <a:path w="6407041" h="7627430">
                <a:moveTo>
                  <a:pt x="0" y="0"/>
                </a:moveTo>
                <a:lnTo>
                  <a:pt x="6407041" y="0"/>
                </a:lnTo>
                <a:lnTo>
                  <a:pt x="6407041" y="7627430"/>
                </a:lnTo>
                <a:lnTo>
                  <a:pt x="0" y="762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4527442">
            <a:off x="14501108" y="-542231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/>
          </a:p>
        </p:txBody>
      </p:sp>
      <p:grpSp>
        <p:nvGrpSpPr>
          <p:cNvPr id="3" name="Group 3"/>
          <p:cNvGrpSpPr/>
          <p:nvPr/>
        </p:nvGrpSpPr>
        <p:grpSpPr>
          <a:xfrm>
            <a:off x="9296400" y="666750"/>
            <a:ext cx="2876550" cy="2686050"/>
            <a:chOff x="0" y="0"/>
            <a:chExt cx="738346" cy="68944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38346" cy="689449"/>
            </a:xfrm>
            <a:custGeom>
              <a:avLst/>
              <a:gdLst/>
              <a:ahLst/>
              <a:cxnLst/>
              <a:rect l="l" t="t" r="r" b="b"/>
              <a:pathLst>
                <a:path w="738346" h="689449">
                  <a:moveTo>
                    <a:pt x="107656" y="0"/>
                  </a:moveTo>
                  <a:lnTo>
                    <a:pt x="630690" y="0"/>
                  </a:lnTo>
                  <a:cubicBezTo>
                    <a:pt x="659242" y="0"/>
                    <a:pt x="686625" y="11342"/>
                    <a:pt x="706814" y="31532"/>
                  </a:cubicBezTo>
                  <a:cubicBezTo>
                    <a:pt x="727004" y="51721"/>
                    <a:pt x="738346" y="79104"/>
                    <a:pt x="738346" y="107656"/>
                  </a:cubicBezTo>
                  <a:lnTo>
                    <a:pt x="738346" y="581793"/>
                  </a:lnTo>
                  <a:cubicBezTo>
                    <a:pt x="738346" y="641250"/>
                    <a:pt x="690147" y="689449"/>
                    <a:pt x="630690" y="689449"/>
                  </a:cubicBezTo>
                  <a:lnTo>
                    <a:pt x="107656" y="689449"/>
                  </a:lnTo>
                  <a:cubicBezTo>
                    <a:pt x="79104" y="689449"/>
                    <a:pt x="51721" y="678107"/>
                    <a:pt x="31532" y="657917"/>
                  </a:cubicBezTo>
                  <a:cubicBezTo>
                    <a:pt x="11342" y="637728"/>
                    <a:pt x="0" y="610345"/>
                    <a:pt x="0" y="581793"/>
                  </a:cubicBezTo>
                  <a:lnTo>
                    <a:pt x="0" y="107656"/>
                  </a:lnTo>
                  <a:cubicBezTo>
                    <a:pt x="0" y="79104"/>
                    <a:pt x="11342" y="51721"/>
                    <a:pt x="31532" y="31532"/>
                  </a:cubicBezTo>
                  <a:cubicBezTo>
                    <a:pt x="51721" y="11342"/>
                    <a:pt x="79104" y="0"/>
                    <a:pt x="107656" y="0"/>
                  </a:cubicBezTo>
                  <a:close/>
                </a:path>
              </a:pathLst>
            </a:custGeom>
            <a:blipFill>
              <a:blip r:embed="rId4"/>
              <a:stretch>
                <a:fillRect l="-135" r="-135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306425" y="5139734"/>
            <a:ext cx="2876550" cy="2689816"/>
            <a:chOff x="0" y="0"/>
            <a:chExt cx="738346" cy="69041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38346" cy="690415"/>
            </a:xfrm>
            <a:custGeom>
              <a:avLst/>
              <a:gdLst/>
              <a:ahLst/>
              <a:cxnLst/>
              <a:rect l="l" t="t" r="r" b="b"/>
              <a:pathLst>
                <a:path w="738346" h="690415">
                  <a:moveTo>
                    <a:pt x="107656" y="0"/>
                  </a:moveTo>
                  <a:lnTo>
                    <a:pt x="630690" y="0"/>
                  </a:lnTo>
                  <a:cubicBezTo>
                    <a:pt x="659242" y="0"/>
                    <a:pt x="686625" y="11342"/>
                    <a:pt x="706814" y="31532"/>
                  </a:cubicBezTo>
                  <a:cubicBezTo>
                    <a:pt x="727004" y="51721"/>
                    <a:pt x="738346" y="79104"/>
                    <a:pt x="738346" y="107656"/>
                  </a:cubicBezTo>
                  <a:lnTo>
                    <a:pt x="738346" y="582760"/>
                  </a:lnTo>
                  <a:cubicBezTo>
                    <a:pt x="738346" y="642216"/>
                    <a:pt x="690147" y="690415"/>
                    <a:pt x="630690" y="690415"/>
                  </a:cubicBezTo>
                  <a:lnTo>
                    <a:pt x="107656" y="690415"/>
                  </a:lnTo>
                  <a:cubicBezTo>
                    <a:pt x="79104" y="690415"/>
                    <a:pt x="51721" y="679073"/>
                    <a:pt x="31532" y="658884"/>
                  </a:cubicBezTo>
                  <a:cubicBezTo>
                    <a:pt x="11342" y="638694"/>
                    <a:pt x="0" y="611312"/>
                    <a:pt x="0" y="582760"/>
                  </a:cubicBezTo>
                  <a:lnTo>
                    <a:pt x="0" y="107656"/>
                  </a:lnTo>
                  <a:cubicBezTo>
                    <a:pt x="0" y="79104"/>
                    <a:pt x="11342" y="51721"/>
                    <a:pt x="31532" y="31532"/>
                  </a:cubicBezTo>
                  <a:cubicBezTo>
                    <a:pt x="51721" y="11342"/>
                    <a:pt x="79104" y="0"/>
                    <a:pt x="107656" y="0"/>
                  </a:cubicBezTo>
                  <a:close/>
                </a:path>
              </a:pathLst>
            </a:custGeom>
            <a:blipFill>
              <a:blip r:embed="rId5"/>
              <a:stretch>
                <a:fillRect l="-205" r="-205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306425" y="666750"/>
            <a:ext cx="2876550" cy="2686050"/>
            <a:chOff x="0" y="0"/>
            <a:chExt cx="738346" cy="68944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38346" cy="689449"/>
            </a:xfrm>
            <a:custGeom>
              <a:avLst/>
              <a:gdLst/>
              <a:ahLst/>
              <a:cxnLst/>
              <a:rect l="l" t="t" r="r" b="b"/>
              <a:pathLst>
                <a:path w="738346" h="689449">
                  <a:moveTo>
                    <a:pt x="107656" y="0"/>
                  </a:moveTo>
                  <a:lnTo>
                    <a:pt x="630690" y="0"/>
                  </a:lnTo>
                  <a:cubicBezTo>
                    <a:pt x="659242" y="0"/>
                    <a:pt x="686625" y="11342"/>
                    <a:pt x="706814" y="31532"/>
                  </a:cubicBezTo>
                  <a:cubicBezTo>
                    <a:pt x="727004" y="51721"/>
                    <a:pt x="738346" y="79104"/>
                    <a:pt x="738346" y="107656"/>
                  </a:cubicBezTo>
                  <a:lnTo>
                    <a:pt x="738346" y="581793"/>
                  </a:lnTo>
                  <a:cubicBezTo>
                    <a:pt x="738346" y="641250"/>
                    <a:pt x="690147" y="689449"/>
                    <a:pt x="630690" y="689449"/>
                  </a:cubicBezTo>
                  <a:lnTo>
                    <a:pt x="107656" y="689449"/>
                  </a:lnTo>
                  <a:cubicBezTo>
                    <a:pt x="79104" y="689449"/>
                    <a:pt x="51721" y="678107"/>
                    <a:pt x="31532" y="657917"/>
                  </a:cubicBezTo>
                  <a:cubicBezTo>
                    <a:pt x="11342" y="637728"/>
                    <a:pt x="0" y="610345"/>
                    <a:pt x="0" y="581793"/>
                  </a:cubicBezTo>
                  <a:lnTo>
                    <a:pt x="0" y="107656"/>
                  </a:lnTo>
                  <a:cubicBezTo>
                    <a:pt x="0" y="79104"/>
                    <a:pt x="11342" y="51721"/>
                    <a:pt x="31532" y="31532"/>
                  </a:cubicBezTo>
                  <a:cubicBezTo>
                    <a:pt x="51721" y="11342"/>
                    <a:pt x="79104" y="0"/>
                    <a:pt x="107656" y="0"/>
                  </a:cubicBezTo>
                  <a:close/>
                </a:path>
              </a:pathLst>
            </a:custGeom>
            <a:blipFill>
              <a:blip r:embed="rId6"/>
              <a:stretch>
                <a:fillRect l="-135" r="-135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296400" y="5143500"/>
            <a:ext cx="2876550" cy="2722157"/>
            <a:chOff x="0" y="0"/>
            <a:chExt cx="738346" cy="69871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38346" cy="698717"/>
            </a:xfrm>
            <a:custGeom>
              <a:avLst/>
              <a:gdLst/>
              <a:ahLst/>
              <a:cxnLst/>
              <a:rect l="l" t="t" r="r" b="b"/>
              <a:pathLst>
                <a:path w="738346" h="698717">
                  <a:moveTo>
                    <a:pt x="107656" y="0"/>
                  </a:moveTo>
                  <a:lnTo>
                    <a:pt x="630690" y="0"/>
                  </a:lnTo>
                  <a:cubicBezTo>
                    <a:pt x="659242" y="0"/>
                    <a:pt x="686625" y="11342"/>
                    <a:pt x="706814" y="31532"/>
                  </a:cubicBezTo>
                  <a:cubicBezTo>
                    <a:pt x="727004" y="51721"/>
                    <a:pt x="738346" y="79104"/>
                    <a:pt x="738346" y="107656"/>
                  </a:cubicBezTo>
                  <a:lnTo>
                    <a:pt x="738346" y="591061"/>
                  </a:lnTo>
                  <a:cubicBezTo>
                    <a:pt x="738346" y="619613"/>
                    <a:pt x="727004" y="646996"/>
                    <a:pt x="706814" y="667185"/>
                  </a:cubicBezTo>
                  <a:cubicBezTo>
                    <a:pt x="686625" y="687374"/>
                    <a:pt x="659242" y="698717"/>
                    <a:pt x="630690" y="698717"/>
                  </a:cubicBezTo>
                  <a:lnTo>
                    <a:pt x="107656" y="698717"/>
                  </a:lnTo>
                  <a:cubicBezTo>
                    <a:pt x="79104" y="698717"/>
                    <a:pt x="51721" y="687374"/>
                    <a:pt x="31532" y="667185"/>
                  </a:cubicBezTo>
                  <a:cubicBezTo>
                    <a:pt x="11342" y="646996"/>
                    <a:pt x="0" y="619613"/>
                    <a:pt x="0" y="591061"/>
                  </a:cubicBezTo>
                  <a:lnTo>
                    <a:pt x="0" y="107656"/>
                  </a:lnTo>
                  <a:cubicBezTo>
                    <a:pt x="0" y="79104"/>
                    <a:pt x="11342" y="51721"/>
                    <a:pt x="31532" y="31532"/>
                  </a:cubicBezTo>
                  <a:cubicBezTo>
                    <a:pt x="51721" y="11342"/>
                    <a:pt x="79104" y="0"/>
                    <a:pt x="107656" y="0"/>
                  </a:cubicBezTo>
                  <a:close/>
                </a:path>
              </a:pathLst>
            </a:custGeom>
            <a:blipFill>
              <a:blip r:embed="rId7"/>
              <a:stretch>
                <a:fillRect l="-203" r="-203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en-ID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19150" y="3804241"/>
            <a:ext cx="8324850" cy="3395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799"/>
              </a:lnSpc>
            </a:pPr>
            <a:r>
              <a:rPr lang="en-US" sz="8799">
                <a:solidFill>
                  <a:srgbClr val="203040"/>
                </a:solidFill>
                <a:latin typeface="Gilda Display"/>
                <a:ea typeface="Gilda Display"/>
                <a:cs typeface="Gilda Display"/>
                <a:sym typeface="Gilda Display"/>
              </a:rPr>
              <a:t>Key Takeaways from Audio-Only Detection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296400" y="3632791"/>
            <a:ext cx="2876550" cy="1156460"/>
            <a:chOff x="0" y="0"/>
            <a:chExt cx="3835400" cy="1541947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9525"/>
              <a:ext cx="3834751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Feasibility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766435"/>
              <a:ext cx="3835400" cy="775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375"/>
                </a:lnSpc>
              </a:pPr>
              <a:r>
                <a:rPr lang="en-US" sz="1827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Audio-only detection is viable and effective.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306425" y="3632791"/>
            <a:ext cx="2876550" cy="1156460"/>
            <a:chOff x="0" y="0"/>
            <a:chExt cx="3835400" cy="1541947"/>
          </a:xfrm>
        </p:grpSpPr>
        <p:sp>
          <p:nvSpPr>
            <p:cNvPr id="16" name="TextBox 16"/>
            <p:cNvSpPr txBox="1"/>
            <p:nvPr/>
          </p:nvSpPr>
          <p:spPr>
            <a:xfrm>
              <a:off x="0" y="-9525"/>
              <a:ext cx="3834751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Improvements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766435"/>
              <a:ext cx="3835400" cy="775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375"/>
                </a:lnSpc>
              </a:pPr>
              <a:r>
                <a:rPr lang="en-US" sz="1827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Various methods can enhance detection accuracy.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296400" y="8109541"/>
            <a:ext cx="2876550" cy="1156460"/>
            <a:chOff x="0" y="0"/>
            <a:chExt cx="3835400" cy="1541947"/>
          </a:xfrm>
        </p:grpSpPr>
        <p:sp>
          <p:nvSpPr>
            <p:cNvPr id="19" name="TextBox 19"/>
            <p:cNvSpPr txBox="1"/>
            <p:nvPr/>
          </p:nvSpPr>
          <p:spPr>
            <a:xfrm>
              <a:off x="0" y="-9525"/>
              <a:ext cx="3834751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Performance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766435"/>
              <a:ext cx="3835400" cy="775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375"/>
                </a:lnSpc>
              </a:pPr>
              <a:r>
                <a:rPr lang="en-US" sz="1827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AST(FT) outperforms other models significantly.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306425" y="8109541"/>
            <a:ext cx="2876550" cy="1156460"/>
            <a:chOff x="0" y="0"/>
            <a:chExt cx="3835400" cy="1541947"/>
          </a:xfrm>
        </p:grpSpPr>
        <p:sp>
          <p:nvSpPr>
            <p:cNvPr id="22" name="TextBox 22"/>
            <p:cNvSpPr txBox="1"/>
            <p:nvPr/>
          </p:nvSpPr>
          <p:spPr>
            <a:xfrm>
              <a:off x="0" y="-9525"/>
              <a:ext cx="3834751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Future Work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766435"/>
              <a:ext cx="3835400" cy="7755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375"/>
                </a:lnSpc>
              </a:pPr>
              <a:r>
                <a:rPr lang="en-US" sz="1827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Clear paths for ongoing system enhancements.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05025" y="3002297"/>
            <a:ext cx="12639675" cy="3914808"/>
            <a:chOff x="0" y="0"/>
            <a:chExt cx="16852900" cy="5219744"/>
          </a:xfrm>
        </p:grpSpPr>
        <p:sp>
          <p:nvSpPr>
            <p:cNvPr id="3" name="TextBox 3"/>
            <p:cNvSpPr txBox="1"/>
            <p:nvPr/>
          </p:nvSpPr>
          <p:spPr>
            <a:xfrm>
              <a:off x="0" y="171450"/>
              <a:ext cx="16852900" cy="16124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799"/>
                </a:lnSpc>
              </a:pPr>
              <a:r>
                <a:rPr lang="en-US" sz="8799">
                  <a:solidFill>
                    <a:srgbClr val="203040"/>
                  </a:solidFill>
                  <a:latin typeface="Gilda Display"/>
                  <a:ea typeface="Gilda Display"/>
                  <a:cs typeface="Gilda Display"/>
                  <a:sym typeface="Gilda Display"/>
                </a:rPr>
                <a:t>References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51244"/>
              <a:ext cx="16852900" cy="1968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900"/>
                </a:lnSpc>
              </a:pPr>
              <a:r>
                <a:rPr lang="en-US" sz="3000">
                  <a:solidFill>
                    <a:srgbClr val="203040"/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This presentation utilized pivotal resources, including SoccerNet V1/V2, Echoes, AST, Wav2Vec2, and AudioSet, for comprehensive audio event detection analysis and findings.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2086063"/>
              <a:ext cx="16852900" cy="619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00"/>
                </a:lnSpc>
              </a:pPr>
              <a:r>
                <a:rPr lang="en-US" sz="3000" b="1">
                  <a:solidFill>
                    <a:srgbClr val="406080"/>
                  </a:solidFill>
                  <a:latin typeface="HK Grotesk Bold"/>
                  <a:ea typeface="HK Grotesk Bold"/>
                  <a:cs typeface="HK Grotesk Bold"/>
                  <a:sym typeface="HK Grotesk Bold"/>
                </a:rPr>
                <a:t>Key datasets and resources used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1268288">
            <a:off x="14795639" y="5873497"/>
            <a:ext cx="10936025" cy="10299747"/>
          </a:xfrm>
          <a:custGeom>
            <a:avLst/>
            <a:gdLst/>
            <a:ahLst/>
            <a:cxnLst/>
            <a:rect l="l" t="t" r="r" b="b"/>
            <a:pathLst>
              <a:path w="10936025" h="10299747">
                <a:moveTo>
                  <a:pt x="0" y="0"/>
                </a:moveTo>
                <a:lnTo>
                  <a:pt x="10936025" y="0"/>
                </a:lnTo>
                <a:lnTo>
                  <a:pt x="10936025" y="10299747"/>
                </a:lnTo>
                <a:lnTo>
                  <a:pt x="0" y="102997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633</Words>
  <Application>Microsoft Office PowerPoint</Application>
  <PresentationFormat>Custom</PresentationFormat>
  <Paragraphs>96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HK Grotesk Light</vt:lpstr>
      <vt:lpstr>Calibri</vt:lpstr>
      <vt:lpstr>HK Grotesk</vt:lpstr>
      <vt:lpstr>Arial</vt:lpstr>
      <vt:lpstr>Gilda Display</vt:lpstr>
      <vt:lpstr>Arimo</vt:lpstr>
      <vt:lpstr>HK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Soccer Events (ELEC5305)</dc:title>
  <dc:description>Presentation - Soccer Events (ELEC5305)</dc:description>
  <cp:lastModifiedBy>Marcellus Ray Gunawan</cp:lastModifiedBy>
  <cp:revision>2</cp:revision>
  <dcterms:created xsi:type="dcterms:W3CDTF">2006-08-16T00:00:00Z</dcterms:created>
  <dcterms:modified xsi:type="dcterms:W3CDTF">2025-11-06T10:52:48Z</dcterms:modified>
  <dc:identifier>DAG359jYFII</dc:identifier>
</cp:coreProperties>
</file>