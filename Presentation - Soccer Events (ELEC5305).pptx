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ilda Display" charset="1" panose="02000000000000000000"/>
      <p:regular r:id="rId21"/>
    </p:embeddedFont>
    <p:embeddedFont>
      <p:font typeface="HK Grotesk Light" charset="1" panose="00000400000000000000"/>
      <p:regular r:id="rId22"/>
    </p:embeddedFont>
    <p:embeddedFont>
      <p:font typeface="HK Grotesk Bold" charset="1" panose="00000800000000000000"/>
      <p:regular r:id="rId23"/>
    </p:embeddedFont>
    <p:embeddedFont>
      <p:font typeface="HK Grotesk" charset="1" panose="00000500000000000000"/>
      <p:regular r:id="rId24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66804"/>
            <a:ext cx="6886575" cy="4243083"/>
            <a:chOff x="0" y="0"/>
            <a:chExt cx="9182100" cy="56574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59068"/>
              <a:ext cx="91821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Soccer Events (ELEC5305)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Audio-Only Detection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734675" y="5911920"/>
            <a:ext cx="6886575" cy="2802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sz="7200">
                <a:solidFill>
                  <a:srgbClr val="203040"/>
                </a:solidFill>
                <a:latin typeface="Gilda Display"/>
                <a:ea typeface="Gilda Display"/>
                <a:cs typeface="Gilda Display"/>
                <a:sym typeface="Gilda Display"/>
              </a:rPr>
              <a:t>Marcellus Ray Gunawan - 520038655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19150" y="3633788"/>
            <a:ext cx="8324850" cy="3019424"/>
            <a:chOff x="0" y="0"/>
            <a:chExt cx="11099800" cy="40258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573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Audio offers </a:t>
              </a:r>
              <a:r>
                <a:rPr lang="en-US" b="true" sz="3000">
                  <a:solidFill>
                    <a:srgbClr val="20304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low-latency detection</a:t>
              </a: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captures essential information, complementary video technologies to enhance event understanding.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Why Audio?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Research Question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study investigates whether </a:t>
              </a:r>
              <a:r>
                <a:rPr lang="en-US" b="true" sz="3000">
                  <a:solidFill>
                    <a:srgbClr val="20304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audio alone can effectively</a:t>
              </a: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detect soccer events, comparing the performance of RNN, Wav2Vec2, and AST models in achieving accurate predictions.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Exploring audio-only event detection capabilities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38200"/>
            <a:ext cx="1407795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03040"/>
                </a:solidFill>
                <a:latin typeface="Gilda Display"/>
                <a:ea typeface="Gilda Display"/>
                <a:cs typeface="Gilda Display"/>
                <a:sym typeface="Gilda Display"/>
              </a:rPr>
              <a:t>Dataset &amp; Labels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391025"/>
            <a:ext cx="285697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EPL Subset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37076" y="4391025"/>
            <a:ext cx="28593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Six Classes</a:t>
            </a:r>
          </a:p>
        </p:txBody>
      </p:sp>
      <p:sp>
        <p:nvSpPr>
          <p:cNvPr name="AutoShape 5" id="5"/>
          <p:cNvSpPr/>
          <p:nvPr/>
        </p:nvSpPr>
        <p:spPr>
          <a:xfrm>
            <a:off x="990600" y="5457825"/>
            <a:ext cx="17607376" cy="0"/>
          </a:xfrm>
          <a:prstGeom prst="line">
            <a:avLst/>
          </a:prstGeom>
          <a:ln cap="flat" w="19050">
            <a:solidFill>
              <a:srgbClr val="2030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66750" y="5295900"/>
            <a:ext cx="323850" cy="32385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0304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43576" y="5295900"/>
            <a:ext cx="323850" cy="32385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0304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02645" y="5295900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0304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192000" y="4391025"/>
            <a:ext cx="28593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Half-Level Splits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5991225"/>
            <a:ext cx="401002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03040"/>
                </a:solidFill>
                <a:latin typeface="HK Grotesk"/>
                <a:ea typeface="HK Grotesk"/>
                <a:cs typeface="HK Grotesk"/>
                <a:sym typeface="HK Grotesk"/>
              </a:rPr>
              <a:t>Focused on popular English Premier League matches.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43576" y="5991225"/>
            <a:ext cx="398629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03040"/>
                </a:solidFill>
                <a:latin typeface="HK Grotesk"/>
                <a:ea typeface="HK Grotesk"/>
                <a:cs typeface="HK Grotesk"/>
                <a:sym typeface="HK Grotesk"/>
              </a:rPr>
              <a:t>Includes events like fouls and throw-ins.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2950" y="5991225"/>
            <a:ext cx="40100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03040"/>
                </a:solidFill>
                <a:latin typeface="HK Grotesk"/>
                <a:ea typeface="HK Grotesk"/>
                <a:cs typeface="HK Grotesk"/>
                <a:sym typeface="HK Grotesk"/>
              </a:rPr>
              <a:t>Data is split for fair evaluation and training.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pipeline outlines the process from window extraction to feature modeling and final inference, ensuring robust performance.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Pipeline Overview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Features &amp; Windows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section discusses using log-mel spectrograms and W2V2 waveforms, examining trade-offs between 15s and 30s windows for improved event detection performance.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Exploring audio representation techniques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Model Comparison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Evaluating different audio models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772376"/>
            <a:chOff x="0" y="0"/>
            <a:chExt cx="7264400" cy="502983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RNN Architecture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387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1"/>
                </a:lnSpc>
              </a:pPr>
              <a:r>
                <a:rPr lang="en-US" sz="2962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RNN model utilizes </a:t>
              </a:r>
              <a:r>
                <a:rPr lang="en-US" b="true" sz="2962" strike="noStrike" u="none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2×BiGRU</a:t>
              </a:r>
              <a:r>
                <a:rPr lang="en-US" sz="2962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layers, effectively capturing sequential patterns in audio data, crucial for recognizing soccer events amidst complex soundscapes.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772376"/>
            <a:chOff x="0" y="0"/>
            <a:chExt cx="7264400" cy="502983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Wav2Vec2 Model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87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1"/>
                </a:lnSpc>
              </a:pPr>
              <a:r>
                <a:rPr lang="en-US" sz="2962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Wav2Vec2 model is applied in a </a:t>
              </a:r>
              <a:r>
                <a:rPr lang="en-US" b="true" sz="2962" strike="noStrike" u="none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frozen + head</a:t>
              </a:r>
              <a:r>
                <a:rPr lang="en-US" sz="2962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configuration, leveraging pretrained features to enhance event detection without extensive training time on the soccer dataset.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772376"/>
            <a:chOff x="0" y="0"/>
            <a:chExt cx="7264400" cy="502983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AST Approach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3874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51"/>
                </a:lnSpc>
              </a:pPr>
              <a:r>
                <a:rPr lang="en-US" sz="2962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AST model explores </a:t>
              </a:r>
              <a:r>
                <a:rPr lang="en-US" b="true" sz="2962" strike="noStrike" u="none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head-only vs partial fine-tuning</a:t>
              </a:r>
              <a:r>
                <a:rPr lang="en-US" sz="2962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showcasing its ability to adapt to audio nuances, significantly improving detection performance in the context of soccer events.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Training &amp; Evaluation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Our approach utilizes class-weighted cross-entropy loss, Adam/AdamW optimizers, and Macro-F1 metrics to guarantee fair evaluation across models, alongside confusion and precision-recall curves for deeper insights.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Ensuring Fairness in Model Assessment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876342" y="3816002"/>
          <a:ext cx="14535316" cy="5612542"/>
        </p:xfrm>
        <a:graphic>
          <a:graphicData uri="http://schemas.openxmlformats.org/drawingml/2006/table">
            <a:tbl>
              <a:tblPr/>
              <a:tblGrid>
                <a:gridCol w="3633829"/>
                <a:gridCol w="3633829"/>
                <a:gridCol w="3633829"/>
                <a:gridCol w="3633829"/>
              </a:tblGrid>
              <a:tr h="1179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217"/>
                        </a:lnSpc>
                        <a:defRPr/>
                      </a:pPr>
                      <a:r>
                        <a:rPr lang="en-US" b="true" sz="3726">
                          <a:solidFill>
                            <a:srgbClr val="CCCCC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217"/>
                        </a:lnSpc>
                        <a:defRPr/>
                      </a:pPr>
                      <a:r>
                        <a:rPr lang="en-US" b="true" sz="3726">
                          <a:solidFill>
                            <a:srgbClr val="CCCCC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217"/>
                        </a:lnSpc>
                        <a:defRPr/>
                      </a:pPr>
                      <a:r>
                        <a:rPr lang="en-US" b="true" sz="3726">
                          <a:solidFill>
                            <a:srgbClr val="CCCCC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217"/>
                        </a:lnSpc>
                        <a:defRPr/>
                      </a:pPr>
                      <a:r>
                        <a:rPr lang="en-US" b="true" sz="3726">
                          <a:solidFill>
                            <a:srgbClr val="CCCCCC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4533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RNN 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 class imbalance impact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43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Wav2Vec2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23%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0.25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Pretrained, frozen layers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42%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0.45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Pretrained, frozen layers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AST (FT)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000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55%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00000"/>
                          </a:solidFill>
                          <a:latin typeface="HK Grotesk Bold"/>
                          <a:ea typeface="HK Grotesk Bold"/>
                          <a:cs typeface="HK Grotesk Bold"/>
                          <a:sym typeface="HK Grotesk Bold"/>
                        </a:rPr>
                        <a:t>0.53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 AudioSet weights, tuned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8934450" y="1328206"/>
            <a:ext cx="832485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sz="3000">
                <a:solidFill>
                  <a:srgbClr val="20304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results indicate </a:t>
            </a:r>
            <a:r>
              <a:rPr lang="en-US" b="true" sz="3000">
                <a:solidFill>
                  <a:srgbClr val="203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significant disparities</a:t>
            </a:r>
            <a:r>
              <a:rPr lang="en-US" sz="3000">
                <a:solidFill>
                  <a:srgbClr val="20304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among models, with AST(FT) achieving the highest accuracy and Macro-F1 score.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5471"/>
            <a:ext cx="832485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03040"/>
                </a:solidFill>
                <a:latin typeface="Gilda Display"/>
                <a:ea typeface="Gilda Display"/>
                <a:cs typeface="Gilda Display"/>
                <a:sym typeface="Gilda Display"/>
              </a:rPr>
              <a:t>Validation 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Why AST(FT) Wins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advantages of AST(FT) model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772614"/>
            <a:chOff x="0" y="0"/>
            <a:chExt cx="7264400" cy="503015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Pretraining Benefits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387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6"/>
                </a:lnSpc>
              </a:pPr>
              <a:r>
                <a:rPr lang="en-US" sz="2943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AudioSet pretraining significantly enhances the model's ability to recognize non-speech audio signals, providing a robust foundation for detecting various soccer events.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772614"/>
            <a:chOff x="0" y="0"/>
            <a:chExt cx="7264400" cy="503015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Contextual Awareness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87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6"/>
                </a:lnSpc>
              </a:pPr>
              <a:r>
                <a:rPr lang="en-US" sz="2943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Patch attention mechanisms allow AST(FT) to capture important contextual information, improving its performance in distinguishing between similar audio events during a soccer match.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286839"/>
            <a:chOff x="0" y="0"/>
            <a:chExt cx="7264400" cy="438245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Domain Adaptation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3226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6"/>
                </a:lnSpc>
              </a:pPr>
              <a:r>
                <a:rPr lang="en-US" sz="2943" strike="noStrike" u="none">
                  <a:solidFill>
                    <a:srgbClr val="40608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partial fine-tuning of AST(FT) effectively adapts the model to the specific characteristics of soccer audio, leading to improved accuracy in event detection.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Error Patterns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Key challenges include </a:t>
              </a:r>
              <a:r>
                <a:rPr lang="en-US" b="true" sz="3000">
                  <a:solidFill>
                    <a:srgbClr val="20304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confusing throw-ins and ball-outs</a:t>
              </a: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class imbalance, and </a:t>
              </a:r>
              <a:r>
                <a:rPr lang="en-US" b="true" sz="3000">
                  <a:solidFill>
                    <a:srgbClr val="20304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variability in loudness</a:t>
              </a: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from commentary, all affecting accurate detection performance in audio analysis.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Detection Challenges in Soccer Events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6572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6886575" cy="1838325"/>
            <a:chOff x="0" y="0"/>
            <a:chExt cx="9182100" cy="2451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Focal Loss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6840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0304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Using focal loss can improve class imbalance handling.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296400" y="33432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34675" y="3352800"/>
            <a:ext cx="6886575" cy="1828800"/>
            <a:chOff x="0" y="0"/>
            <a:chExt cx="9182100" cy="2438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Multi-Scale Windows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0304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Implementing multi-scale windows enhances temporal feature extraction.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60293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34675" y="6033135"/>
            <a:ext cx="6886575" cy="1834515"/>
            <a:chOff x="0" y="0"/>
            <a:chExt cx="9182100" cy="24460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Smoothing Techniques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6332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0304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HMM/CRF smoothing will refine event detection accuracy.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809625"/>
            <a:ext cx="6886575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25"/>
              </a:lnSpc>
            </a:pPr>
            <a:r>
              <a:rPr lang="en-US" sz="8325">
                <a:solidFill>
                  <a:srgbClr val="203040"/>
                </a:solidFill>
                <a:latin typeface="Gilda Display"/>
                <a:ea typeface="Gilda Display"/>
                <a:cs typeface="Gilda Display"/>
                <a:sym typeface="Gilda Display"/>
              </a:rPr>
              <a:t>Future Improvements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156052">
            <a:off x="-3053910" y="7516388"/>
            <a:ext cx="6407041" cy="7627430"/>
          </a:xfrm>
          <a:custGeom>
            <a:avLst/>
            <a:gdLst/>
            <a:ahLst/>
            <a:cxnLst/>
            <a:rect r="r" b="b" t="t" l="l"/>
            <a:pathLst>
              <a:path h="7627430" w="6407041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6572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6886575" cy="1838325"/>
            <a:chOff x="0" y="0"/>
            <a:chExt cx="9182100" cy="2451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Low-latency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6840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0304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Enables near-instant highlight selections for broadcasted matches.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296400" y="33432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34675" y="3352800"/>
            <a:ext cx="6886575" cy="1828800"/>
            <a:chOff x="0" y="0"/>
            <a:chExt cx="9182100" cy="24384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Redundancy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5570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0304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Complements video feeds, enhancing coverage of critical moments.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602932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40608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34675" y="6033135"/>
            <a:ext cx="6886575" cy="1834515"/>
            <a:chOff x="0" y="0"/>
            <a:chExt cx="9182100" cy="24460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Scalability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63320"/>
              <a:ext cx="9182100" cy="1282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0304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Designed to operate efficiently on limited computing resources.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212465"/>
            <a:ext cx="6886575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03040"/>
                </a:solidFill>
                <a:latin typeface="Gilda Display"/>
                <a:ea typeface="Gilda Display"/>
                <a:cs typeface="Gilda Display"/>
                <a:sym typeface="Gilda Display"/>
              </a:rPr>
              <a:t>Impact and Use-Cases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156052">
            <a:off x="-3053910" y="7516388"/>
            <a:ext cx="6407041" cy="7627430"/>
          </a:xfrm>
          <a:custGeom>
            <a:avLst/>
            <a:gdLst/>
            <a:ahLst/>
            <a:cxnLst/>
            <a:rect r="r" b="b" t="t" l="l"/>
            <a:pathLst>
              <a:path h="7627430" w="6407041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27442">
            <a:off x="14501108" y="-542231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6400" y="666750"/>
            <a:ext cx="2876550" cy="2686050"/>
            <a:chOff x="0" y="0"/>
            <a:chExt cx="738346" cy="6894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4"/>
              <a:stretch>
                <a:fillRect l="-135" t="0" r="-13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306425" y="5139734"/>
            <a:ext cx="2876550" cy="2689816"/>
            <a:chOff x="0" y="0"/>
            <a:chExt cx="738346" cy="6904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8346" cy="690415"/>
            </a:xfrm>
            <a:custGeom>
              <a:avLst/>
              <a:gdLst/>
              <a:ahLst/>
              <a:cxnLst/>
              <a:rect r="r" b="b" t="t" l="l"/>
              <a:pathLst>
                <a:path h="690415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2760"/>
                  </a:lnTo>
                  <a:cubicBezTo>
                    <a:pt x="738346" y="642216"/>
                    <a:pt x="690147" y="690415"/>
                    <a:pt x="630690" y="690415"/>
                  </a:cubicBezTo>
                  <a:lnTo>
                    <a:pt x="107656" y="690415"/>
                  </a:lnTo>
                  <a:cubicBezTo>
                    <a:pt x="79104" y="690415"/>
                    <a:pt x="51721" y="679073"/>
                    <a:pt x="31532" y="658884"/>
                  </a:cubicBezTo>
                  <a:cubicBezTo>
                    <a:pt x="11342" y="638694"/>
                    <a:pt x="0" y="611312"/>
                    <a:pt x="0" y="582760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5"/>
              <a:stretch>
                <a:fillRect l="-205" t="0" r="-20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306425" y="666750"/>
            <a:ext cx="2876550" cy="2686050"/>
            <a:chOff x="0" y="0"/>
            <a:chExt cx="738346" cy="689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6"/>
              <a:stretch>
                <a:fillRect l="-135" t="0" r="-13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296400" y="5143500"/>
            <a:ext cx="2876550" cy="2722157"/>
            <a:chOff x="0" y="0"/>
            <a:chExt cx="738346" cy="6987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8346" cy="698717"/>
            </a:xfrm>
            <a:custGeom>
              <a:avLst/>
              <a:gdLst/>
              <a:ahLst/>
              <a:cxnLst/>
              <a:rect r="r" b="b" t="t" l="l"/>
              <a:pathLst>
                <a:path h="698717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91061"/>
                  </a:lnTo>
                  <a:cubicBezTo>
                    <a:pt x="738346" y="619613"/>
                    <a:pt x="727004" y="646996"/>
                    <a:pt x="706814" y="667185"/>
                  </a:cubicBezTo>
                  <a:cubicBezTo>
                    <a:pt x="686625" y="687374"/>
                    <a:pt x="659242" y="698717"/>
                    <a:pt x="630690" y="698717"/>
                  </a:cubicBezTo>
                  <a:lnTo>
                    <a:pt x="107656" y="698717"/>
                  </a:lnTo>
                  <a:cubicBezTo>
                    <a:pt x="79104" y="698717"/>
                    <a:pt x="51721" y="687374"/>
                    <a:pt x="31532" y="667185"/>
                  </a:cubicBezTo>
                  <a:cubicBezTo>
                    <a:pt x="11342" y="646996"/>
                    <a:pt x="0" y="619613"/>
                    <a:pt x="0" y="591061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7"/>
              <a:stretch>
                <a:fillRect l="-203" t="0" r="-203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19150" y="3804241"/>
            <a:ext cx="8324850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03040"/>
                </a:solidFill>
                <a:latin typeface="Gilda Display"/>
                <a:ea typeface="Gilda Display"/>
                <a:cs typeface="Gilda Display"/>
                <a:sym typeface="Gilda Display"/>
              </a:rPr>
              <a:t>Key Takeaways from Audio-Only Detection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6400" y="3632791"/>
            <a:ext cx="2876550" cy="1156460"/>
            <a:chOff x="0" y="0"/>
            <a:chExt cx="3835400" cy="154194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383475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Feasibility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766435"/>
              <a:ext cx="3835400" cy="775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</a:pPr>
              <a:r>
                <a:rPr lang="en-US" sz="1827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Audio-only detection is viable and effective.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06425" y="3632791"/>
            <a:ext cx="2876550" cy="1156460"/>
            <a:chOff x="0" y="0"/>
            <a:chExt cx="3835400" cy="154194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383475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Improvements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66435"/>
              <a:ext cx="3835400" cy="775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</a:pPr>
              <a:r>
                <a:rPr lang="en-US" sz="1827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Various methods can enhance detection accuracy.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8109541"/>
            <a:ext cx="2876550" cy="1156460"/>
            <a:chOff x="0" y="0"/>
            <a:chExt cx="3835400" cy="154194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"/>
              <a:ext cx="383475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Performance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66435"/>
              <a:ext cx="3835400" cy="775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</a:pPr>
              <a:r>
                <a:rPr lang="en-US" sz="1827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AST(FT) outperforms other models significantly.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06425" y="8109541"/>
            <a:ext cx="2876550" cy="1156460"/>
            <a:chOff x="0" y="0"/>
            <a:chExt cx="3835400" cy="1541947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9525"/>
              <a:ext cx="383475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Future Work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766435"/>
              <a:ext cx="3835400" cy="775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75"/>
                </a:lnSpc>
              </a:pPr>
              <a:r>
                <a:rPr lang="en-US" sz="1827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Clear paths for ongoing system enhancements.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304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References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304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presentation utilized pivotal resources, including SoccerNet V1/V2, Echoes, AST, Wav2Vec2, and AudioSet, for comprehensive audio event detection analysis and findings.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40608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datasets and resources used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Soccer Events (ELEC5305)</dc:description>
  <dc:identifier>DAG359jYFII</dc:identifier>
  <dcterms:modified xsi:type="dcterms:W3CDTF">2011-08-01T06:04:30Z</dcterms:modified>
  <cp:revision>1</cp:revision>
  <dc:title>Presentation - Soccer Events (ELEC5305)</dc:title>
</cp:coreProperties>
</file>